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otham Bold" charset="1" panose="00000000000000000000"/>
      <p:regular r:id="rId22"/>
    </p:embeddedFont>
    <p:embeddedFont>
      <p:font typeface="Poppins" charset="1" panose="00000500000000000000"/>
      <p:regular r:id="rId23"/>
    </p:embeddedFont>
    <p:embeddedFont>
      <p:font typeface="Gotham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53706" y="4534901"/>
            <a:ext cx="7493767" cy="5311207"/>
          </a:xfrm>
          <a:custGeom>
            <a:avLst/>
            <a:gdLst/>
            <a:ahLst/>
            <a:cxnLst/>
            <a:rect r="r" b="b" t="t" l="l"/>
            <a:pathLst>
              <a:path h="5311207" w="7493767">
                <a:moveTo>
                  <a:pt x="0" y="0"/>
                </a:moveTo>
                <a:lnTo>
                  <a:pt x="7493767" y="0"/>
                </a:lnTo>
                <a:lnTo>
                  <a:pt x="7493767" y="5311207"/>
                </a:lnTo>
                <a:lnTo>
                  <a:pt x="0" y="531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442" y="473532"/>
            <a:ext cx="13968673" cy="352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80"/>
              </a:lnSpc>
            </a:pPr>
            <a:r>
              <a:rPr lang="en-US" b="true" sz="724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STATISTICAL INVESTIGATION OF CHRONIC KIDNEY DISEASE RISK FACTORS AND PREDICTION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4442" y="9408423"/>
            <a:ext cx="3854940" cy="30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92"/>
              </a:lnSpc>
            </a:pPr>
            <a:r>
              <a:rPr lang="en-US" sz="20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Team: Tehreek-e-Muhandis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4442" y="5792088"/>
            <a:ext cx="8264961" cy="2396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5"/>
              </a:lnSpc>
            </a:pPr>
            <a:r>
              <a:rPr lang="en-US" sz="572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Complex Engineering Project (CEP) — STA281 Spring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5339" y="-1820075"/>
            <a:ext cx="4391847" cy="13942372"/>
          </a:xfrm>
          <a:custGeom>
            <a:avLst/>
            <a:gdLst/>
            <a:ahLst/>
            <a:cxnLst/>
            <a:rect r="r" b="b" t="t" l="l"/>
            <a:pathLst>
              <a:path h="13942372" w="4391847">
                <a:moveTo>
                  <a:pt x="0" y="0"/>
                </a:moveTo>
                <a:lnTo>
                  <a:pt x="4391848" y="0"/>
                </a:lnTo>
                <a:lnTo>
                  <a:pt x="4391848" y="13942372"/>
                </a:lnTo>
                <a:lnTo>
                  <a:pt x="0" y="13942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5496" y="8734586"/>
            <a:ext cx="3086100" cy="1090368"/>
            <a:chOff x="0" y="0"/>
            <a:chExt cx="812800" cy="287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87175"/>
            </a:xfrm>
            <a:custGeom>
              <a:avLst/>
              <a:gdLst/>
              <a:ahLst/>
              <a:cxnLst/>
              <a:rect r="r" b="b" t="t" l="l"/>
              <a:pathLst>
                <a:path h="287175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9234"/>
                  </a:lnTo>
                  <a:cubicBezTo>
                    <a:pt x="812800" y="193166"/>
                    <a:pt x="799321" y="225708"/>
                    <a:pt x="775327" y="249702"/>
                  </a:cubicBezTo>
                  <a:cubicBezTo>
                    <a:pt x="751333" y="273696"/>
                    <a:pt x="718791" y="287175"/>
                    <a:pt x="684859" y="287175"/>
                  </a:cubicBezTo>
                  <a:lnTo>
                    <a:pt x="127941" y="287175"/>
                  </a:lnTo>
                  <a:cubicBezTo>
                    <a:pt x="94009" y="287175"/>
                    <a:pt x="61467" y="273696"/>
                    <a:pt x="37473" y="249702"/>
                  </a:cubicBezTo>
                  <a:cubicBezTo>
                    <a:pt x="13479" y="225708"/>
                    <a:pt x="0" y="193166"/>
                    <a:pt x="0" y="15923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812800" cy="40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CKD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2983" y="8734586"/>
            <a:ext cx="4374916" cy="1090368"/>
            <a:chOff x="0" y="0"/>
            <a:chExt cx="1152241" cy="287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241" cy="287175"/>
            </a:xfrm>
            <a:custGeom>
              <a:avLst/>
              <a:gdLst/>
              <a:ahLst/>
              <a:cxnLst/>
              <a:rect r="r" b="b" t="t" l="l"/>
              <a:pathLst>
                <a:path h="287175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96925"/>
                  </a:lnTo>
                  <a:cubicBezTo>
                    <a:pt x="1152241" y="246769"/>
                    <a:pt x="1111835" y="287175"/>
                    <a:pt x="1061991" y="287175"/>
                  </a:cubicBezTo>
                  <a:lnTo>
                    <a:pt x="90250" y="287175"/>
                  </a:lnTo>
                  <a:cubicBezTo>
                    <a:pt x="40406" y="287175"/>
                    <a:pt x="0" y="246769"/>
                    <a:pt x="0" y="196925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1152241" cy="401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19"/>
                </a:lnSpc>
              </a:pPr>
              <a:r>
                <a:rPr lang="en-US" sz="3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STA281 CEP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5496" y="442273"/>
            <a:ext cx="10131485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01 — Objective: Identify CKD Risk Factors &amp; Predictive Insights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496" y="1909238"/>
            <a:ext cx="8327144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02 — Dataset: 400 Patients, 26 Variables (Kaggle)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5496" y="3376075"/>
            <a:ext cx="12090278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03 — Methodology: Descriptive Stats, Probability, Hypothesis Testing,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496" y="4842912"/>
            <a:ext cx="11715350" cy="5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04 — Target: Binary CKD Classification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362" y="7486793"/>
            <a:ext cx="3086100" cy="1047428"/>
            <a:chOff x="0" y="0"/>
            <a:chExt cx="812800" cy="2758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7925"/>
                  </a:lnTo>
                  <a:cubicBezTo>
                    <a:pt x="812800" y="181857"/>
                    <a:pt x="799321" y="214399"/>
                    <a:pt x="775327" y="238393"/>
                  </a:cubicBezTo>
                  <a:cubicBezTo>
                    <a:pt x="751333" y="262386"/>
                    <a:pt x="718791" y="275866"/>
                    <a:pt x="684859" y="275866"/>
                  </a:cubicBezTo>
                  <a:lnTo>
                    <a:pt x="127941" y="275866"/>
                  </a:lnTo>
                  <a:cubicBezTo>
                    <a:pt x="94009" y="275866"/>
                    <a:pt x="61467" y="262386"/>
                    <a:pt x="37473" y="238393"/>
                  </a:cubicBezTo>
                  <a:cubicBezTo>
                    <a:pt x="13479" y="214399"/>
                    <a:pt x="0" y="181857"/>
                    <a:pt x="0" y="1479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371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508"/>
                </a:lnSpc>
              </a:pPr>
              <a:r>
                <a:rPr lang="en-US" sz="322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400 Records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12362" y="8822474"/>
            <a:ext cx="4374916" cy="1047428"/>
            <a:chOff x="0" y="0"/>
            <a:chExt cx="1152241" cy="2758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85615"/>
                  </a:lnTo>
                  <a:cubicBezTo>
                    <a:pt x="1152241" y="235459"/>
                    <a:pt x="1111835" y="275866"/>
                    <a:pt x="1061991" y="275866"/>
                  </a:cubicBezTo>
                  <a:lnTo>
                    <a:pt x="90250" y="275866"/>
                  </a:lnTo>
                  <a:cubicBezTo>
                    <a:pt x="66315" y="275866"/>
                    <a:pt x="43359" y="266357"/>
                    <a:pt x="26434" y="249432"/>
                  </a:cubicBezTo>
                  <a:cubicBezTo>
                    <a:pt x="9508" y="232507"/>
                    <a:pt x="0" y="209551"/>
                    <a:pt x="0" y="185615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152241" cy="371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508"/>
                </a:lnSpc>
              </a:pPr>
              <a:r>
                <a:rPr lang="en-US" sz="322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26 Variables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12362" y="433899"/>
            <a:ext cx="9779990" cy="86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23"/>
              </a:lnSpc>
            </a:pPr>
            <a:r>
              <a:rPr lang="en-US" b="true" sz="581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03 - 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05902" y="4921979"/>
            <a:ext cx="11931238" cy="334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62"/>
              </a:lnSpc>
            </a:pPr>
            <a:r>
              <a:rPr lang="en-US" sz="26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Variable: CKD status (binary: 1 = CKD, 0 = No CKD)</a:t>
            </a:r>
          </a:p>
          <a:p>
            <a:pPr algn="r" marL="0" indent="0" lvl="0">
              <a:lnSpc>
                <a:spcPts val="3762"/>
              </a:lnSpc>
            </a:pPr>
            <a:r>
              <a:rPr lang="en-US" sz="26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Variables include clinical measurements such as serum creatinine, blood urea, hemoglobin, and blood pressure, alongside demographic and lab indicators.</a:t>
            </a:r>
          </a:p>
          <a:p>
            <a:pPr algn="r" marL="0" indent="0" lvl="0">
              <a:lnSpc>
                <a:spcPts val="3762"/>
              </a:lnSpc>
            </a:pPr>
            <a:r>
              <a:rPr lang="en-US" sz="26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Preprocessing Steps: Variable renaming for clarity, missing value imputation, numeric type conversions, and target label standardization to prepare data for statistical analysis.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362" y="2614410"/>
            <a:ext cx="9271968" cy="1228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6"/>
              </a:lnSpc>
            </a:pPr>
            <a:r>
              <a:rPr lang="en-US" sz="427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400 patient records across 26 clinical and laboratory variables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3523" y="949565"/>
            <a:ext cx="7156220" cy="4928847"/>
          </a:xfrm>
          <a:custGeom>
            <a:avLst/>
            <a:gdLst/>
            <a:ahLst/>
            <a:cxnLst/>
            <a:rect r="r" b="b" t="t" l="l"/>
            <a:pathLst>
              <a:path h="4928847" w="7156220">
                <a:moveTo>
                  <a:pt x="0" y="0"/>
                </a:moveTo>
                <a:lnTo>
                  <a:pt x="7156220" y="0"/>
                </a:lnTo>
                <a:lnTo>
                  <a:pt x="7156220" y="4928847"/>
                </a:lnTo>
                <a:lnTo>
                  <a:pt x="0" y="4928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362" y="8710619"/>
            <a:ext cx="12189098" cy="65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9"/>
              </a:lnSpc>
            </a:pPr>
            <a:r>
              <a:rPr lang="en-US" b="true" sz="441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04 — DESCRIPTIVE STATISTICS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8896" y="247299"/>
            <a:ext cx="8042342" cy="5624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36"/>
              </a:lnSpc>
            </a:pPr>
            <a:r>
              <a:rPr lang="en-US" sz="31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Clinical Variables — CKD Patient Dataset (n=400)</a:t>
            </a:r>
          </a:p>
          <a:p>
            <a:pPr algn="l" marL="0" indent="0" lvl="0">
              <a:lnSpc>
                <a:spcPts val="4436"/>
              </a:lnSpc>
            </a:pPr>
            <a:r>
              <a:rPr lang="en-US" sz="31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Serum Creatinine: Mean 3.07 | Median 1.80 | Std Dev 3.31 | Range: 0.5–15.2</a:t>
            </a:r>
          </a:p>
          <a:p>
            <a:pPr algn="l" marL="0" indent="0" lvl="0">
              <a:lnSpc>
                <a:spcPts val="4436"/>
              </a:lnSpc>
            </a:pPr>
            <a:r>
              <a:rPr lang="en-US" sz="31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Blood Urea: Mean 57.4 | Median 44.0 | Std Dev 40.6 | Range: 10–391</a:t>
            </a:r>
          </a:p>
          <a:p>
            <a:pPr algn="l" marL="0" indent="0" lvl="0">
              <a:lnSpc>
                <a:spcPts val="4436"/>
              </a:lnSpc>
            </a:pPr>
            <a:r>
              <a:rPr lang="en-US" sz="31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Hemoglobin: Mean 12.5 | Median 13.9 | Std Dev 2.91 | Range: 3.1–17.8</a:t>
            </a:r>
          </a:p>
          <a:p>
            <a:pPr algn="l" marL="0" indent="0" lvl="0">
              <a:lnSpc>
                <a:spcPts val="4436"/>
              </a:lnSpc>
            </a:pPr>
            <a:r>
              <a:rPr lang="en-US" sz="31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Blood Pressure: Mean 76.5 | Median 80.0 | Std Dev 13.9 | Range: 50–180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637" y="6025868"/>
            <a:ext cx="7586545" cy="234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603"/>
              </a:lnSpc>
            </a:pPr>
            <a:r>
              <a:rPr lang="en-US" sz="4073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Elevated creatinine &amp; urea indicate impaired filtration; low hemoglobin signals anemia risk in CKD patients.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60217" y="1585357"/>
            <a:ext cx="9731672" cy="7116285"/>
          </a:xfrm>
          <a:custGeom>
            <a:avLst/>
            <a:gdLst/>
            <a:ahLst/>
            <a:cxnLst/>
            <a:rect r="r" b="b" t="t" l="l"/>
            <a:pathLst>
              <a:path h="7116285" w="9731672">
                <a:moveTo>
                  <a:pt x="0" y="0"/>
                </a:moveTo>
                <a:lnTo>
                  <a:pt x="9731672" y="0"/>
                </a:lnTo>
                <a:lnTo>
                  <a:pt x="9731672" y="7116286"/>
                </a:lnTo>
                <a:lnTo>
                  <a:pt x="0" y="7116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362" y="452949"/>
            <a:ext cx="8327144" cy="172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7"/>
              </a:lnSpc>
            </a:pPr>
            <a:r>
              <a:rPr lang="en-US" b="true" sz="596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05 - VISUALIZATION FINDINGS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238139"/>
            <a:ext cx="8460217" cy="487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5"/>
              </a:lnSpc>
            </a:pPr>
            <a:r>
              <a:rPr lang="en-US" sz="2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(a) SerumCreatinine histogram shows right-skew — some patients with severe kidney dysfunction.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(b) BloodUrea boxplot reveals wide spread and outliers indicating abnormal urea accumulation.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(c) BP vs Creatinine scatter: CKD patients cluster at higher values.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(d) CKD outcome bar chart confirms 62.5% CKD prevalence.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52333" y="2193831"/>
            <a:ext cx="7913107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9"/>
              </a:lnSpc>
            </a:pPr>
            <a:r>
              <a:rPr lang="en-US" sz="299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CKD prevalence: 62.5% vs 37.5% non-CKD in the dataset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362" y="7575892"/>
            <a:ext cx="9651956" cy="2213648"/>
            <a:chOff x="0" y="0"/>
            <a:chExt cx="2542079" cy="5830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2079" cy="583018"/>
            </a:xfrm>
            <a:custGeom>
              <a:avLst/>
              <a:gdLst/>
              <a:ahLst/>
              <a:cxnLst/>
              <a:rect r="r" b="b" t="t" l="l"/>
              <a:pathLst>
                <a:path h="583018" w="2542079">
                  <a:moveTo>
                    <a:pt x="40908" y="0"/>
                  </a:moveTo>
                  <a:lnTo>
                    <a:pt x="2501171" y="0"/>
                  </a:lnTo>
                  <a:cubicBezTo>
                    <a:pt x="2512021" y="0"/>
                    <a:pt x="2522426" y="4310"/>
                    <a:pt x="2530097" y="11982"/>
                  </a:cubicBezTo>
                  <a:cubicBezTo>
                    <a:pt x="2537769" y="19653"/>
                    <a:pt x="2542079" y="30058"/>
                    <a:pt x="2542079" y="40908"/>
                  </a:cubicBezTo>
                  <a:lnTo>
                    <a:pt x="2542079" y="542111"/>
                  </a:lnTo>
                  <a:cubicBezTo>
                    <a:pt x="2542079" y="564704"/>
                    <a:pt x="2523764" y="583018"/>
                    <a:pt x="2501171" y="583018"/>
                  </a:cubicBezTo>
                  <a:lnTo>
                    <a:pt x="40908" y="583018"/>
                  </a:lnTo>
                  <a:cubicBezTo>
                    <a:pt x="30058" y="583018"/>
                    <a:pt x="19653" y="578709"/>
                    <a:pt x="11982" y="571037"/>
                  </a:cubicBezTo>
                  <a:cubicBezTo>
                    <a:pt x="4310" y="563365"/>
                    <a:pt x="0" y="552960"/>
                    <a:pt x="0" y="542111"/>
                  </a:cubicBezTo>
                  <a:lnTo>
                    <a:pt x="0" y="40908"/>
                  </a:lnTo>
                  <a:cubicBezTo>
                    <a:pt x="0" y="18315"/>
                    <a:pt x="18315" y="0"/>
                    <a:pt x="40908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42079" cy="64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2362" y="1887425"/>
            <a:ext cx="10412070" cy="4013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3"/>
              </a:lnSpc>
            </a:pPr>
            <a:r>
              <a:rPr lang="en-US" sz="32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differences between CKD and Non-CKD groups:</a:t>
            </a:r>
          </a:p>
          <a:p>
            <a:pPr algn="l" marL="0" indent="0" lvl="0">
              <a:lnSpc>
                <a:spcPts val="4533"/>
              </a:lnSpc>
            </a:pPr>
            <a:r>
              <a:rPr lang="en-US" sz="32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SerumCreatinine: Significantly higher in CKD patients</a:t>
            </a:r>
          </a:p>
          <a:p>
            <a:pPr algn="l" marL="0" indent="0" lvl="0">
              <a:lnSpc>
                <a:spcPts val="4533"/>
              </a:lnSpc>
            </a:pPr>
            <a:r>
              <a:rPr lang="en-US" sz="32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BloodUrea: Elevated, indicating impaired filtration</a:t>
            </a:r>
          </a:p>
          <a:p>
            <a:pPr algn="l" marL="0" indent="0" lvl="0">
              <a:lnSpc>
                <a:spcPts val="4533"/>
              </a:lnSpc>
            </a:pPr>
            <a:r>
              <a:rPr lang="en-US" sz="32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BloodPressure: Higher in CKD — hypertension link</a:t>
            </a:r>
          </a:p>
          <a:p>
            <a:pPr algn="l" marL="0" indent="0" lvl="0">
              <a:lnSpc>
                <a:spcPts val="4533"/>
              </a:lnSpc>
            </a:pPr>
            <a:r>
              <a:rPr lang="en-US" sz="32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Hemoglobin: Lower in CKD — anemia indicator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2362" y="443424"/>
            <a:ext cx="11279007" cy="67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</a:pPr>
            <a:r>
              <a:rPr lang="en-US" b="true" sz="4605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06 - CKD VS NON-CKD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030" y="8143273"/>
            <a:ext cx="8448188" cy="104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4"/>
              </a:lnSpc>
            </a:pPr>
            <a:r>
              <a:rPr lang="en-US" sz="298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Clinical differentiation supports early CKD screening and diagnosis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4431" y="433899"/>
            <a:ext cx="6925874" cy="152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33"/>
              </a:lnSpc>
            </a:pPr>
            <a:r>
              <a:rPr lang="en-US" b="true" sz="356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CKD PATIENTS SHOW ELEVATED KIDNEY MARKERS AND LOWER HEMOGLOBIN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3138" y="7406431"/>
            <a:ext cx="3086100" cy="1047428"/>
            <a:chOff x="0" y="0"/>
            <a:chExt cx="812800" cy="275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7925"/>
                  </a:lnTo>
                  <a:cubicBezTo>
                    <a:pt x="812800" y="181857"/>
                    <a:pt x="799321" y="214399"/>
                    <a:pt x="775327" y="238393"/>
                  </a:cubicBezTo>
                  <a:cubicBezTo>
                    <a:pt x="751333" y="262386"/>
                    <a:pt x="718791" y="275866"/>
                    <a:pt x="684859" y="275866"/>
                  </a:cubicBezTo>
                  <a:lnTo>
                    <a:pt x="127941" y="275866"/>
                  </a:lnTo>
                  <a:cubicBezTo>
                    <a:pt x="94009" y="275866"/>
                    <a:pt x="61467" y="262386"/>
                    <a:pt x="37473" y="238393"/>
                  </a:cubicBezTo>
                  <a:cubicBezTo>
                    <a:pt x="13479" y="214399"/>
                    <a:pt x="0" y="181857"/>
                    <a:pt x="0" y="1479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812800" cy="35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65"/>
                </a:lnSpc>
              </a:pPr>
              <a:r>
                <a:rPr lang="en-US" sz="3618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CKD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5390" y="8742112"/>
            <a:ext cx="4374916" cy="1047428"/>
            <a:chOff x="0" y="0"/>
            <a:chExt cx="1152241" cy="275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85615"/>
                  </a:lnTo>
                  <a:cubicBezTo>
                    <a:pt x="1152241" y="235459"/>
                    <a:pt x="1111835" y="275866"/>
                    <a:pt x="1061991" y="275866"/>
                  </a:cubicBezTo>
                  <a:lnTo>
                    <a:pt x="90250" y="275866"/>
                  </a:lnTo>
                  <a:cubicBezTo>
                    <a:pt x="66315" y="275866"/>
                    <a:pt x="43359" y="266357"/>
                    <a:pt x="26434" y="249432"/>
                  </a:cubicBezTo>
                  <a:cubicBezTo>
                    <a:pt x="9508" y="232507"/>
                    <a:pt x="0" y="209551"/>
                    <a:pt x="0" y="185615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152241" cy="35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065"/>
                </a:lnSpc>
              </a:pPr>
              <a:r>
                <a:rPr lang="en-US" sz="3618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Non-CKD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528" y="2593379"/>
            <a:ext cx="12368227" cy="4401467"/>
          </a:xfrm>
          <a:custGeom>
            <a:avLst/>
            <a:gdLst/>
            <a:ahLst/>
            <a:cxnLst/>
            <a:rect r="r" b="b" t="t" l="l"/>
            <a:pathLst>
              <a:path h="4401467" w="12368227">
                <a:moveTo>
                  <a:pt x="0" y="0"/>
                </a:moveTo>
                <a:lnTo>
                  <a:pt x="12368227" y="0"/>
                </a:lnTo>
                <a:lnTo>
                  <a:pt x="12368227" y="4401466"/>
                </a:lnTo>
                <a:lnTo>
                  <a:pt x="0" y="4401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64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07252" y="7956192"/>
            <a:ext cx="2680669" cy="909824"/>
            <a:chOff x="0" y="0"/>
            <a:chExt cx="812800" cy="275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37933" y="0"/>
                  </a:moveTo>
                  <a:lnTo>
                    <a:pt x="674867" y="0"/>
                  </a:lnTo>
                  <a:cubicBezTo>
                    <a:pt x="711449" y="0"/>
                    <a:pt x="746533" y="14532"/>
                    <a:pt x="772400" y="40400"/>
                  </a:cubicBezTo>
                  <a:cubicBezTo>
                    <a:pt x="798268" y="66267"/>
                    <a:pt x="812800" y="101351"/>
                    <a:pt x="812800" y="137933"/>
                  </a:cubicBezTo>
                  <a:lnTo>
                    <a:pt x="812800" y="137933"/>
                  </a:lnTo>
                  <a:cubicBezTo>
                    <a:pt x="812800" y="214111"/>
                    <a:pt x="751045" y="275866"/>
                    <a:pt x="674867" y="275866"/>
                  </a:cubicBezTo>
                  <a:lnTo>
                    <a:pt x="137933" y="275866"/>
                  </a:lnTo>
                  <a:cubicBezTo>
                    <a:pt x="101351" y="275866"/>
                    <a:pt x="66267" y="261334"/>
                    <a:pt x="40400" y="235466"/>
                  </a:cubicBezTo>
                  <a:cubicBezTo>
                    <a:pt x="14532" y="209599"/>
                    <a:pt x="0" y="174515"/>
                    <a:pt x="0" y="137933"/>
                  </a:cubicBezTo>
                  <a:lnTo>
                    <a:pt x="0" y="137933"/>
                  </a:lnTo>
                  <a:cubicBezTo>
                    <a:pt x="0" y="101351"/>
                    <a:pt x="14532" y="66267"/>
                    <a:pt x="40400" y="40400"/>
                  </a:cubicBezTo>
                  <a:cubicBezTo>
                    <a:pt x="66267" y="14532"/>
                    <a:pt x="101351" y="0"/>
                    <a:pt x="137933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99"/>
                </a:lnSpc>
              </a:pPr>
              <a:r>
                <a:rPr lang="en-US" sz="207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Bayes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66856" y="9116400"/>
            <a:ext cx="3800169" cy="909824"/>
            <a:chOff x="0" y="0"/>
            <a:chExt cx="1152241" cy="275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103900" y="0"/>
                  </a:moveTo>
                  <a:lnTo>
                    <a:pt x="1048341" y="0"/>
                  </a:lnTo>
                  <a:cubicBezTo>
                    <a:pt x="1105723" y="0"/>
                    <a:pt x="1152241" y="46518"/>
                    <a:pt x="1152241" y="103900"/>
                  </a:cubicBezTo>
                  <a:lnTo>
                    <a:pt x="1152241" y="171966"/>
                  </a:lnTo>
                  <a:cubicBezTo>
                    <a:pt x="1152241" y="229348"/>
                    <a:pt x="1105723" y="275866"/>
                    <a:pt x="1048341" y="275866"/>
                  </a:cubicBezTo>
                  <a:lnTo>
                    <a:pt x="103900" y="275866"/>
                  </a:lnTo>
                  <a:cubicBezTo>
                    <a:pt x="76344" y="275866"/>
                    <a:pt x="49917" y="264919"/>
                    <a:pt x="30432" y="245434"/>
                  </a:cubicBezTo>
                  <a:cubicBezTo>
                    <a:pt x="10947" y="225949"/>
                    <a:pt x="0" y="199522"/>
                    <a:pt x="0" y="171966"/>
                  </a:cubicBezTo>
                  <a:lnTo>
                    <a:pt x="0" y="103900"/>
                  </a:lnTo>
                  <a:cubicBezTo>
                    <a:pt x="0" y="46518"/>
                    <a:pt x="46518" y="0"/>
                    <a:pt x="10390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152241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99"/>
                </a:lnSpc>
              </a:pPr>
              <a:r>
                <a:rPr lang="en-US" sz="207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P(CKD) = 100%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739591" y="3881564"/>
            <a:ext cx="3086100" cy="2039733"/>
            <a:chOff x="0" y="0"/>
            <a:chExt cx="812800" cy="5372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37214"/>
            </a:xfrm>
            <a:custGeom>
              <a:avLst/>
              <a:gdLst/>
              <a:ahLst/>
              <a:cxnLst/>
              <a:rect r="r" b="b" t="t" l="l"/>
              <a:pathLst>
                <a:path h="53721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409273"/>
                  </a:lnTo>
                  <a:cubicBezTo>
                    <a:pt x="812800" y="479933"/>
                    <a:pt x="755519" y="537214"/>
                    <a:pt x="684859" y="537214"/>
                  </a:cubicBezTo>
                  <a:lnTo>
                    <a:pt x="127941" y="537214"/>
                  </a:lnTo>
                  <a:cubicBezTo>
                    <a:pt x="94009" y="537214"/>
                    <a:pt x="61467" y="523734"/>
                    <a:pt x="37473" y="499741"/>
                  </a:cubicBezTo>
                  <a:cubicBezTo>
                    <a:pt x="13479" y="475747"/>
                    <a:pt x="0" y="443205"/>
                    <a:pt x="0" y="409273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5BA5D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812800" cy="651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E1EDF3"/>
                  </a:solidFill>
                  <a:latin typeface="Poppins"/>
                  <a:ea typeface="Poppins"/>
                  <a:cs typeface="Poppins"/>
                  <a:sym typeface="Poppins"/>
                </a:rPr>
                <a:t>Likeability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12362" y="433899"/>
            <a:ext cx="8327144" cy="1506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02"/>
              </a:lnSpc>
            </a:pPr>
            <a:r>
              <a:rPr lang="en-US" b="true" sz="517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07 - PROBABILITY &amp; BAYES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48331" y="348174"/>
            <a:ext cx="8118694" cy="2613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Conditional Probability:</a:t>
            </a:r>
          </a:p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P(CKD | SerumCreatinine &gt; 1.5) = 100%</a:t>
            </a:r>
          </a:p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Bayes Theorem Result:</a:t>
            </a:r>
          </a:p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Posterior probability = 100% for threshold &gt; 1.8 mg/dL</a:t>
            </a:r>
          </a:p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Clinical Implication:</a:t>
            </a:r>
          </a:p>
          <a:p>
            <a:pPr algn="r" marL="0" indent="0" lvl="0">
              <a:lnSpc>
                <a:spcPts val="2929"/>
              </a:lnSpc>
            </a:pPr>
            <a:r>
              <a:rPr lang="en-US" sz="20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Elevated SerumCreatinine is a near-perfect predictor of CKD status, confirming its role as a primary screening biomarker.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1465" y="7482418"/>
            <a:ext cx="10661342" cy="17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2"/>
              </a:lnSpc>
            </a:pPr>
            <a:r>
              <a:rPr lang="en-US" sz="402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Elevated SerumCreatinine strongly predicts CKD with 100% posterior probability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362" y="433899"/>
            <a:ext cx="12189098" cy="66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50"/>
              </a:lnSpc>
            </a:pPr>
            <a:r>
              <a:rPr lang="en-US" b="true" sz="451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08 - PROBABILITY DISTRIBUTIONS &amp; CLT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2362" y="2470798"/>
            <a:ext cx="9084033" cy="39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Five distributions model CKD data patterns: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Binomial PMF: CKD counts in sample (n=12, p=0.55)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Normal: SerumCreatinine risk categories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Uniform: Patient age probabilities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Exponential: CKD admission intervals</a:t>
            </a:r>
          </a:p>
          <a:p>
            <a:pPr algn="l" marL="0" indent="0" lvl="0">
              <a:lnSpc>
                <a:spcPts val="3974"/>
              </a:lnSpc>
            </a:pPr>
            <a:r>
              <a:rPr lang="en-US" sz="28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CLT: Sampling distribution of BloodUrea mean converges to normality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647645" y="6891128"/>
            <a:ext cx="7290528" cy="2886066"/>
            <a:chOff x="0" y="0"/>
            <a:chExt cx="1920139" cy="7601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139" cy="760116"/>
            </a:xfrm>
            <a:custGeom>
              <a:avLst/>
              <a:gdLst/>
              <a:ahLst/>
              <a:cxnLst/>
              <a:rect r="r" b="b" t="t" l="l"/>
              <a:pathLst>
                <a:path h="760116" w="1920139">
                  <a:moveTo>
                    <a:pt x="54158" y="0"/>
                  </a:moveTo>
                  <a:lnTo>
                    <a:pt x="1865981" y="0"/>
                  </a:lnTo>
                  <a:cubicBezTo>
                    <a:pt x="1880345" y="0"/>
                    <a:pt x="1894120" y="5706"/>
                    <a:pt x="1904277" y="15862"/>
                  </a:cubicBezTo>
                  <a:cubicBezTo>
                    <a:pt x="1914433" y="26019"/>
                    <a:pt x="1920139" y="39794"/>
                    <a:pt x="1920139" y="54158"/>
                  </a:cubicBezTo>
                  <a:lnTo>
                    <a:pt x="1920139" y="705958"/>
                  </a:lnTo>
                  <a:cubicBezTo>
                    <a:pt x="1920139" y="720322"/>
                    <a:pt x="1914433" y="734097"/>
                    <a:pt x="1904277" y="744254"/>
                  </a:cubicBezTo>
                  <a:cubicBezTo>
                    <a:pt x="1894120" y="754410"/>
                    <a:pt x="1880345" y="760116"/>
                    <a:pt x="1865981" y="760116"/>
                  </a:cubicBezTo>
                  <a:lnTo>
                    <a:pt x="54158" y="760116"/>
                  </a:lnTo>
                  <a:cubicBezTo>
                    <a:pt x="39794" y="760116"/>
                    <a:pt x="26019" y="754410"/>
                    <a:pt x="15862" y="744254"/>
                  </a:cubicBezTo>
                  <a:cubicBezTo>
                    <a:pt x="5706" y="734097"/>
                    <a:pt x="0" y="720322"/>
                    <a:pt x="0" y="705958"/>
                  </a:cubicBezTo>
                  <a:lnTo>
                    <a:pt x="0" y="54158"/>
                  </a:lnTo>
                  <a:cubicBezTo>
                    <a:pt x="0" y="39794"/>
                    <a:pt x="5706" y="26019"/>
                    <a:pt x="15862" y="15862"/>
                  </a:cubicBezTo>
                  <a:cubicBezTo>
                    <a:pt x="26019" y="5706"/>
                    <a:pt x="39794" y="0"/>
                    <a:pt x="54158" y="0"/>
                  </a:cubicBezTo>
                  <a:close/>
                </a:path>
              </a:pathLst>
            </a:custGeom>
            <a:ln w="28575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920139" cy="817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556577" y="1411528"/>
            <a:ext cx="7290528" cy="203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028"/>
              </a:lnSpc>
            </a:pPr>
            <a:r>
              <a:rPr lang="en-US" sz="356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Binomial &amp; Normal distributions capture CKD prevalence and biomarker spread across patient populations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0971" y="7515714"/>
            <a:ext cx="6417244" cy="163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88"/>
              </a:lnSpc>
            </a:pPr>
            <a:r>
              <a:rPr lang="en-US" sz="282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CLT confirms BloodUrea sample means follow normal distribution, enabling robust statistical inference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761005" y="4249864"/>
            <a:ext cx="3086100" cy="1047428"/>
            <a:chOff x="0" y="0"/>
            <a:chExt cx="812800" cy="275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7925"/>
                  </a:lnTo>
                  <a:cubicBezTo>
                    <a:pt x="812800" y="181857"/>
                    <a:pt x="799321" y="214399"/>
                    <a:pt x="775327" y="238393"/>
                  </a:cubicBezTo>
                  <a:cubicBezTo>
                    <a:pt x="751333" y="262386"/>
                    <a:pt x="718791" y="275866"/>
                    <a:pt x="684859" y="275866"/>
                  </a:cubicBezTo>
                  <a:lnTo>
                    <a:pt x="127941" y="275866"/>
                  </a:lnTo>
                  <a:cubicBezTo>
                    <a:pt x="94009" y="275866"/>
                    <a:pt x="61467" y="262386"/>
                    <a:pt x="37473" y="238393"/>
                  </a:cubicBezTo>
                  <a:cubicBezTo>
                    <a:pt x="13479" y="214399"/>
                    <a:pt x="0" y="181857"/>
                    <a:pt x="0" y="1479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812800" cy="35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7"/>
                </a:lnSpc>
              </a:pPr>
              <a:r>
                <a:rPr lang="en-US" sz="28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Binomial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563257" y="5585546"/>
            <a:ext cx="4374916" cy="1047428"/>
            <a:chOff x="0" y="0"/>
            <a:chExt cx="1152241" cy="275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85615"/>
                  </a:lnTo>
                  <a:cubicBezTo>
                    <a:pt x="1152241" y="235459"/>
                    <a:pt x="1111835" y="275866"/>
                    <a:pt x="1061991" y="275866"/>
                  </a:cubicBezTo>
                  <a:lnTo>
                    <a:pt x="90250" y="275866"/>
                  </a:lnTo>
                  <a:cubicBezTo>
                    <a:pt x="66315" y="275866"/>
                    <a:pt x="43359" y="266357"/>
                    <a:pt x="26434" y="249432"/>
                  </a:cubicBezTo>
                  <a:cubicBezTo>
                    <a:pt x="9508" y="232507"/>
                    <a:pt x="0" y="209551"/>
                    <a:pt x="0" y="185615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152241" cy="3520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007"/>
                </a:lnSpc>
              </a:pPr>
              <a:r>
                <a:rPr lang="en-US" sz="286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CLT Applied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5582" y="2691152"/>
            <a:ext cx="10477752" cy="2784507"/>
            <a:chOff x="0" y="0"/>
            <a:chExt cx="2759573" cy="7333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59573" cy="733368"/>
            </a:xfrm>
            <a:custGeom>
              <a:avLst/>
              <a:gdLst/>
              <a:ahLst/>
              <a:cxnLst/>
              <a:rect r="r" b="b" t="t" l="l"/>
              <a:pathLst>
                <a:path h="733368" w="2759573">
                  <a:moveTo>
                    <a:pt x="37683" y="0"/>
                  </a:moveTo>
                  <a:lnTo>
                    <a:pt x="2721889" y="0"/>
                  </a:lnTo>
                  <a:cubicBezTo>
                    <a:pt x="2731883" y="0"/>
                    <a:pt x="2741468" y="3970"/>
                    <a:pt x="2748535" y="11037"/>
                  </a:cubicBezTo>
                  <a:cubicBezTo>
                    <a:pt x="2755602" y="18104"/>
                    <a:pt x="2759573" y="27689"/>
                    <a:pt x="2759573" y="37683"/>
                  </a:cubicBezTo>
                  <a:lnTo>
                    <a:pt x="2759573" y="695685"/>
                  </a:lnTo>
                  <a:cubicBezTo>
                    <a:pt x="2759573" y="705679"/>
                    <a:pt x="2755602" y="715264"/>
                    <a:pt x="2748535" y="722331"/>
                  </a:cubicBezTo>
                  <a:cubicBezTo>
                    <a:pt x="2741468" y="729398"/>
                    <a:pt x="2731883" y="733368"/>
                    <a:pt x="2721889" y="733368"/>
                  </a:cubicBezTo>
                  <a:lnTo>
                    <a:pt x="37683" y="733368"/>
                  </a:lnTo>
                  <a:cubicBezTo>
                    <a:pt x="27689" y="733368"/>
                    <a:pt x="18104" y="729398"/>
                    <a:pt x="11037" y="722331"/>
                  </a:cubicBezTo>
                  <a:cubicBezTo>
                    <a:pt x="3970" y="715264"/>
                    <a:pt x="0" y="705679"/>
                    <a:pt x="0" y="695685"/>
                  </a:cubicBezTo>
                  <a:lnTo>
                    <a:pt x="0" y="37683"/>
                  </a:lnTo>
                  <a:cubicBezTo>
                    <a:pt x="0" y="27689"/>
                    <a:pt x="3970" y="18104"/>
                    <a:pt x="11037" y="11037"/>
                  </a:cubicBezTo>
                  <a:cubicBezTo>
                    <a:pt x="18104" y="3970"/>
                    <a:pt x="27689" y="0"/>
                    <a:pt x="37683" y="0"/>
                  </a:cubicBezTo>
                  <a:close/>
                </a:path>
              </a:pathLst>
            </a:custGeom>
            <a:ln w="1905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759573" cy="790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59383" y="5685622"/>
            <a:ext cx="7228617" cy="4601378"/>
          </a:xfrm>
          <a:custGeom>
            <a:avLst/>
            <a:gdLst/>
            <a:ahLst/>
            <a:cxnLst/>
            <a:rect r="r" b="b" t="t" l="l"/>
            <a:pathLst>
              <a:path h="4601378" w="7228617">
                <a:moveTo>
                  <a:pt x="0" y="0"/>
                </a:moveTo>
                <a:lnTo>
                  <a:pt x="7228617" y="0"/>
                </a:lnTo>
                <a:lnTo>
                  <a:pt x="7228617" y="4601378"/>
                </a:lnTo>
                <a:lnTo>
                  <a:pt x="0" y="460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9581" t="-753" r="0" b="-75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2362" y="443424"/>
            <a:ext cx="8327144" cy="68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5"/>
              </a:lnSpc>
            </a:pPr>
            <a:r>
              <a:rPr lang="en-US" b="true" sz="470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09 - DISTRIBUTIONS &amp; CLT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582" y="5995322"/>
            <a:ext cx="10619758" cy="186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2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Exponential Distribution: Models time between CKD patient admissions, revealing clustering patterns in high-risk periods.</a:t>
            </a:r>
          </a:p>
          <a:p>
            <a:pPr algn="l" marL="0" indent="0" lvl="0">
              <a:lnSpc>
                <a:spcPts val="2972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Central Limit Theorem: Sampling distribution of BloodUrea mean converges to normal as sample size increases, validating parametric inference methods used throughout this study.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2922" y="3421873"/>
            <a:ext cx="9343073" cy="133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6"/>
              </a:lnSpc>
            </a:pPr>
            <a:r>
              <a:rPr lang="en-US" sz="311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Exponential distribution models CKD admission intervals; CLT confirms sample mean convergence for robust inference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073975" y="1028700"/>
            <a:ext cx="7214025" cy="4601378"/>
          </a:xfrm>
          <a:custGeom>
            <a:avLst/>
            <a:gdLst/>
            <a:ahLst/>
            <a:cxnLst/>
            <a:rect r="r" b="b" t="t" l="l"/>
            <a:pathLst>
              <a:path h="4601378" w="7214025">
                <a:moveTo>
                  <a:pt x="0" y="0"/>
                </a:moveTo>
                <a:lnTo>
                  <a:pt x="7214025" y="0"/>
                </a:lnTo>
                <a:lnTo>
                  <a:pt x="7214025" y="4601378"/>
                </a:lnTo>
                <a:lnTo>
                  <a:pt x="0" y="4601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7015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362" y="7575892"/>
            <a:ext cx="9651956" cy="2213648"/>
            <a:chOff x="0" y="0"/>
            <a:chExt cx="2542079" cy="5830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2079" cy="583018"/>
            </a:xfrm>
            <a:custGeom>
              <a:avLst/>
              <a:gdLst/>
              <a:ahLst/>
              <a:cxnLst/>
              <a:rect r="r" b="b" t="t" l="l"/>
              <a:pathLst>
                <a:path h="583018" w="2542079">
                  <a:moveTo>
                    <a:pt x="40908" y="0"/>
                  </a:moveTo>
                  <a:lnTo>
                    <a:pt x="2501171" y="0"/>
                  </a:lnTo>
                  <a:cubicBezTo>
                    <a:pt x="2512021" y="0"/>
                    <a:pt x="2522426" y="4310"/>
                    <a:pt x="2530097" y="11982"/>
                  </a:cubicBezTo>
                  <a:cubicBezTo>
                    <a:pt x="2537769" y="19653"/>
                    <a:pt x="2542079" y="30058"/>
                    <a:pt x="2542079" y="40908"/>
                  </a:cubicBezTo>
                  <a:lnTo>
                    <a:pt x="2542079" y="542111"/>
                  </a:lnTo>
                  <a:cubicBezTo>
                    <a:pt x="2542079" y="564704"/>
                    <a:pt x="2523764" y="583018"/>
                    <a:pt x="2501171" y="583018"/>
                  </a:cubicBezTo>
                  <a:lnTo>
                    <a:pt x="40908" y="583018"/>
                  </a:lnTo>
                  <a:cubicBezTo>
                    <a:pt x="30058" y="583018"/>
                    <a:pt x="19653" y="578709"/>
                    <a:pt x="11982" y="571037"/>
                  </a:cubicBezTo>
                  <a:cubicBezTo>
                    <a:pt x="4310" y="563365"/>
                    <a:pt x="0" y="552960"/>
                    <a:pt x="0" y="542111"/>
                  </a:cubicBezTo>
                  <a:lnTo>
                    <a:pt x="0" y="40908"/>
                  </a:lnTo>
                  <a:cubicBezTo>
                    <a:pt x="0" y="18315"/>
                    <a:pt x="18315" y="0"/>
                    <a:pt x="40908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42079" cy="640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12362" y="1935050"/>
            <a:ext cx="10412070" cy="122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95% CI for SerumCreatinine: Mean above normal range — indicates impaired kidney filtration.</a:t>
            </a:r>
          </a:p>
          <a:p>
            <a:pPr algn="l" marL="0" indent="0" lvl="0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Z-Test (Right-tailed): BloodUrea significantly &gt; 50 mg/dL — confirms abnormal urea accumulation.</a:t>
            </a:r>
          </a:p>
          <a:p>
            <a:pPr algn="l" marL="0" indent="0" lvl="0">
              <a:lnSpc>
                <a:spcPts val="2439"/>
              </a:lnSpc>
            </a:pPr>
            <a:r>
              <a:rPr lang="en-US" sz="17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T-Test (Left-tailed): Hemoglobin significantly &lt; 12.5 g/dL — confirms anemia in CKD patients.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2362" y="433899"/>
            <a:ext cx="11279007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b="true" sz="3842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10 - CONFIDENCE INTERVAL &amp; HYPOTHESIS TESTING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030" y="8171848"/>
            <a:ext cx="8448188" cy="28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46"/>
              </a:lnSpc>
            </a:pPr>
            <a:r>
              <a:rPr lang="en-US" sz="160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 three tests support data-driven diagnosis of chronic kidney dysfunction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4431" y="1165907"/>
            <a:ext cx="6925874" cy="76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61"/>
              </a:lnSpc>
            </a:pPr>
            <a:r>
              <a:rPr lang="en-US" sz="262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Statistical evidence confirms impaired kidney function in CKD patients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3138" y="7406431"/>
            <a:ext cx="3086100" cy="1047428"/>
            <a:chOff x="0" y="0"/>
            <a:chExt cx="812800" cy="275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47925"/>
                  </a:lnTo>
                  <a:cubicBezTo>
                    <a:pt x="812800" y="181857"/>
                    <a:pt x="799321" y="214399"/>
                    <a:pt x="775327" y="238393"/>
                  </a:cubicBezTo>
                  <a:cubicBezTo>
                    <a:pt x="751333" y="262386"/>
                    <a:pt x="718791" y="275866"/>
                    <a:pt x="684859" y="275866"/>
                  </a:cubicBezTo>
                  <a:lnTo>
                    <a:pt x="127941" y="275866"/>
                  </a:lnTo>
                  <a:cubicBezTo>
                    <a:pt x="94009" y="275866"/>
                    <a:pt x="61467" y="262386"/>
                    <a:pt x="37473" y="238393"/>
                  </a:cubicBezTo>
                  <a:cubicBezTo>
                    <a:pt x="13479" y="214399"/>
                    <a:pt x="0" y="181857"/>
                    <a:pt x="0" y="14792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812800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26"/>
                </a:lnSpc>
              </a:pPr>
              <a:r>
                <a:rPr lang="en-US" sz="194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75390" y="8742112"/>
            <a:ext cx="4374916" cy="1047428"/>
            <a:chOff x="0" y="0"/>
            <a:chExt cx="1152241" cy="275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85615"/>
                  </a:lnTo>
                  <a:cubicBezTo>
                    <a:pt x="1152241" y="235459"/>
                    <a:pt x="1111835" y="275866"/>
                    <a:pt x="1061991" y="275866"/>
                  </a:cubicBezTo>
                  <a:lnTo>
                    <a:pt x="90250" y="275866"/>
                  </a:lnTo>
                  <a:cubicBezTo>
                    <a:pt x="66315" y="275866"/>
                    <a:pt x="43359" y="266357"/>
                    <a:pt x="26434" y="249432"/>
                  </a:cubicBezTo>
                  <a:cubicBezTo>
                    <a:pt x="9508" y="232507"/>
                    <a:pt x="0" y="209551"/>
                    <a:pt x="0" y="185615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152241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726"/>
                </a:lnSpc>
              </a:pPr>
              <a:r>
                <a:rPr lang="en-US" sz="194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Hypothesis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2896" y="452949"/>
            <a:ext cx="12189098" cy="91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177"/>
              </a:lnSpc>
            </a:pPr>
            <a:r>
              <a:rPr lang="en-US" b="true" sz="6296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10 - CORRELATION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4236" y="3709326"/>
            <a:ext cx="9406803" cy="558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Correlations: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SerumCreatinine &amp; BloodUrea: r = +0.78 (Strong Positive)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Elevated creatinine and urea rise together, confirming impaired kidney filtration.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Hemoglobin &amp; CKD: r = −0.81 (Strong Negative)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Lower hemoglobin strongly associated with CKD presence, indicating anemia.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BloodPressure &amp; CKD: Moderate positive correlation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Hypertension linked to progressive kidney damage.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Clinical Insight:</a:t>
            </a:r>
          </a:p>
          <a:p>
            <a:pPr algn="l" marL="0" indent="0" lvl="0">
              <a:lnSpc>
                <a:spcPts val="3414"/>
              </a:lnSpc>
            </a:pPr>
            <a:r>
              <a:rPr lang="en-US" sz="24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Correlation analysis confirms expected clinical relationships between kidney function markers and CKD status, supporting their use as diagnostic indicators.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471278" y="1557910"/>
            <a:ext cx="8658782" cy="7075964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362" y="433899"/>
            <a:ext cx="12189098" cy="732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33"/>
              </a:lnSpc>
            </a:pPr>
            <a:r>
              <a:rPr lang="en-US" sz="4941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11 - Regression &amp; Predictive Insights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00867" y="358183"/>
            <a:ext cx="20783824" cy="11277043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86893" y="-1910025"/>
            <a:ext cx="4539656" cy="14411608"/>
          </a:xfrm>
          <a:custGeom>
            <a:avLst/>
            <a:gdLst/>
            <a:ahLst/>
            <a:cxnLst/>
            <a:rect r="r" b="b" t="t" l="l"/>
            <a:pathLst>
              <a:path h="14411608" w="4539656">
                <a:moveTo>
                  <a:pt x="0" y="0"/>
                </a:moveTo>
                <a:lnTo>
                  <a:pt x="4539656" y="0"/>
                </a:lnTo>
                <a:lnTo>
                  <a:pt x="4539656" y="14411608"/>
                </a:lnTo>
                <a:lnTo>
                  <a:pt x="0" y="14411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5496" y="8734586"/>
            <a:ext cx="3086100" cy="1076393"/>
            <a:chOff x="0" y="0"/>
            <a:chExt cx="812800" cy="2834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83494"/>
            </a:xfrm>
            <a:custGeom>
              <a:avLst/>
              <a:gdLst/>
              <a:ahLst/>
              <a:cxnLst/>
              <a:rect r="r" b="b" t="t" l="l"/>
              <a:pathLst>
                <a:path h="283494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5554"/>
                  </a:lnTo>
                  <a:cubicBezTo>
                    <a:pt x="812800" y="189486"/>
                    <a:pt x="799321" y="222028"/>
                    <a:pt x="775327" y="246022"/>
                  </a:cubicBezTo>
                  <a:cubicBezTo>
                    <a:pt x="751333" y="270015"/>
                    <a:pt x="718791" y="283494"/>
                    <a:pt x="684859" y="283494"/>
                  </a:cubicBezTo>
                  <a:lnTo>
                    <a:pt x="127941" y="283494"/>
                  </a:lnTo>
                  <a:cubicBezTo>
                    <a:pt x="94009" y="283494"/>
                    <a:pt x="61467" y="270015"/>
                    <a:pt x="37473" y="246022"/>
                  </a:cubicBezTo>
                  <a:cubicBezTo>
                    <a:pt x="13479" y="222028"/>
                    <a:pt x="0" y="189486"/>
                    <a:pt x="0" y="155554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812800" cy="388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232"/>
                </a:lnSpc>
              </a:pPr>
              <a:r>
                <a:rPr lang="en-US" sz="37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Biomarkers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792983" y="8734586"/>
            <a:ext cx="4374916" cy="1076393"/>
            <a:chOff x="0" y="0"/>
            <a:chExt cx="1152241" cy="2834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2241" cy="283494"/>
            </a:xfrm>
            <a:custGeom>
              <a:avLst/>
              <a:gdLst/>
              <a:ahLst/>
              <a:cxnLst/>
              <a:rect r="r" b="b" t="t" l="l"/>
              <a:pathLst>
                <a:path h="283494" w="1152241">
                  <a:moveTo>
                    <a:pt x="90250" y="0"/>
                  </a:moveTo>
                  <a:lnTo>
                    <a:pt x="1061991" y="0"/>
                  </a:lnTo>
                  <a:cubicBezTo>
                    <a:pt x="1111835" y="0"/>
                    <a:pt x="1152241" y="40406"/>
                    <a:pt x="1152241" y="90250"/>
                  </a:cubicBezTo>
                  <a:lnTo>
                    <a:pt x="1152241" y="193244"/>
                  </a:lnTo>
                  <a:cubicBezTo>
                    <a:pt x="1152241" y="243088"/>
                    <a:pt x="1111835" y="283494"/>
                    <a:pt x="1061991" y="283494"/>
                  </a:cubicBezTo>
                  <a:lnTo>
                    <a:pt x="90250" y="283494"/>
                  </a:lnTo>
                  <a:cubicBezTo>
                    <a:pt x="40406" y="283494"/>
                    <a:pt x="0" y="243088"/>
                    <a:pt x="0" y="193244"/>
                  </a:cubicBezTo>
                  <a:lnTo>
                    <a:pt x="0" y="90250"/>
                  </a:lnTo>
                  <a:cubicBezTo>
                    <a:pt x="0" y="40406"/>
                    <a:pt x="40406" y="0"/>
                    <a:pt x="9025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04775"/>
              <a:ext cx="1152241" cy="388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232"/>
                </a:lnSpc>
              </a:pPr>
              <a:r>
                <a:rPr lang="en-US" sz="373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Risk Factors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65496" y="442273"/>
            <a:ext cx="10131485" cy="5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01 — SerumCreatinine &amp; BloodUrea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5496" y="1909238"/>
            <a:ext cx="8327144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02 — Hemoglobin &amp; BloodPressure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5496" y="3376075"/>
            <a:ext cx="12090278" cy="1115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03 — Hypertension, Diabetes, Electrolyte Imbalance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5496" y="4842912"/>
            <a:ext cx="11715350" cy="562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80"/>
              </a:lnSpc>
            </a:pPr>
            <a:r>
              <a:rPr lang="en-US" sz="3842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04 — Elevated Creatinine &amp; Low Hemoglobin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01742" y="440655"/>
            <a:ext cx="7459459" cy="5920945"/>
          </a:xfrm>
          <a:custGeom>
            <a:avLst/>
            <a:gdLst/>
            <a:ahLst/>
            <a:cxnLst/>
            <a:rect r="r" b="b" t="t" l="l"/>
            <a:pathLst>
              <a:path h="5920945" w="7459459">
                <a:moveTo>
                  <a:pt x="0" y="0"/>
                </a:moveTo>
                <a:lnTo>
                  <a:pt x="7459459" y="0"/>
                </a:lnTo>
                <a:lnTo>
                  <a:pt x="7459459" y="5920945"/>
                </a:lnTo>
                <a:lnTo>
                  <a:pt x="0" y="5920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362" y="8720144"/>
            <a:ext cx="12189098" cy="73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4"/>
              </a:lnSpc>
            </a:pPr>
            <a:r>
              <a:rPr lang="en-US" b="true" sz="504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14 - EVIDENCE-BASED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8896" y="247299"/>
            <a:ext cx="8042342" cy="645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CKD patients show significantly altered clinical markers across all key biomarkers</a:t>
            </a:r>
          </a:p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Probability &amp; Bayes analysis confirm SerumCreatinine as a near-perfect CKD predictor</a:t>
            </a:r>
          </a:p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Distribution modeling &amp; CLT support robust statistical inference on patient data</a:t>
            </a:r>
          </a:p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Hypothesis testing confirms abnormal BloodUrea and Hemoglobin in CKD patients</a:t>
            </a:r>
          </a:p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Correlation analysis reveals strong links between kidney markers and CKD status</a:t>
            </a:r>
          </a:p>
          <a:p>
            <a:pPr algn="l" marL="0" indent="0" lvl="0">
              <a:lnSpc>
                <a:spcPts val="3902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Comprehensive statistical analysis supports reliable, data-driven CKD prediction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78990" y="6380650"/>
            <a:ext cx="7586545" cy="230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19"/>
              </a:lnSpc>
            </a:pPr>
            <a:r>
              <a:rPr lang="en-US" sz="3999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Statistical evidence strongly supports data-driven prediction of CKD risk factors.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2217" y="-865306"/>
            <a:ext cx="6723432" cy="9257737"/>
          </a:xfrm>
          <a:custGeom>
            <a:avLst/>
            <a:gdLst/>
            <a:ahLst/>
            <a:cxnLst/>
            <a:rect r="r" b="b" t="t" l="l"/>
            <a:pathLst>
              <a:path h="9257737" w="6723432">
                <a:moveTo>
                  <a:pt x="0" y="0"/>
                </a:moveTo>
                <a:lnTo>
                  <a:pt x="6723432" y="0"/>
                </a:lnTo>
                <a:lnTo>
                  <a:pt x="6723432" y="9257738"/>
                </a:lnTo>
                <a:lnTo>
                  <a:pt x="0" y="9257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2362" y="443424"/>
            <a:ext cx="8327144" cy="73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66"/>
              </a:lnSpc>
            </a:pPr>
            <a:r>
              <a:rPr lang="en-US" b="true" sz="5058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15 - RECOMMENDATIONS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748331" y="357699"/>
            <a:ext cx="8118694" cy="446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Regularly monitor SerumCreatinine, BloodUrea, BloodPressure, and Hemoglobin in at-risk patients.</a:t>
            </a:r>
          </a:p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Initiate early screening for hypertensive and diabetic patients before symptom onset.</a:t>
            </a:r>
          </a:p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Control blood pressure and manage diabetes to reduce CKD progression risk.</a:t>
            </a:r>
          </a:p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Monitor anemia indicators and electrolyte levels for timely early intervention.</a:t>
            </a:r>
          </a:p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Promote lifestyle modifications including diet, hydration, and exercise.</a:t>
            </a:r>
          </a:p>
          <a:p>
            <a:pPr algn="r" marL="0" indent="0" lvl="0">
              <a:lnSpc>
                <a:spcPts val="2973"/>
              </a:lnSpc>
            </a:pPr>
            <a:r>
              <a:rPr lang="en-US" sz="21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✔ Schedule regular follow-up testing to track biomarker trends over time.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430154"/>
            <a:ext cx="10661342" cy="117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1"/>
              </a:lnSpc>
            </a:pPr>
            <a:r>
              <a:rPr lang="en-US" sz="4089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Early detection and evidence-based management can slow CKD progression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07252" y="7956192"/>
            <a:ext cx="2680669" cy="909824"/>
            <a:chOff x="0" y="0"/>
            <a:chExt cx="812800" cy="2758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275866"/>
            </a:xfrm>
            <a:custGeom>
              <a:avLst/>
              <a:gdLst/>
              <a:ahLst/>
              <a:cxnLst/>
              <a:rect r="r" b="b" t="t" l="l"/>
              <a:pathLst>
                <a:path h="275866" w="812800">
                  <a:moveTo>
                    <a:pt x="137933" y="0"/>
                  </a:moveTo>
                  <a:lnTo>
                    <a:pt x="674867" y="0"/>
                  </a:lnTo>
                  <a:cubicBezTo>
                    <a:pt x="711449" y="0"/>
                    <a:pt x="746533" y="14532"/>
                    <a:pt x="772400" y="40400"/>
                  </a:cubicBezTo>
                  <a:cubicBezTo>
                    <a:pt x="798268" y="66267"/>
                    <a:pt x="812800" y="101351"/>
                    <a:pt x="812800" y="137933"/>
                  </a:cubicBezTo>
                  <a:lnTo>
                    <a:pt x="812800" y="137933"/>
                  </a:lnTo>
                  <a:cubicBezTo>
                    <a:pt x="812800" y="214111"/>
                    <a:pt x="751045" y="275866"/>
                    <a:pt x="674867" y="275866"/>
                  </a:cubicBezTo>
                  <a:lnTo>
                    <a:pt x="137933" y="275866"/>
                  </a:lnTo>
                  <a:cubicBezTo>
                    <a:pt x="101351" y="275866"/>
                    <a:pt x="66267" y="261334"/>
                    <a:pt x="40400" y="235466"/>
                  </a:cubicBezTo>
                  <a:cubicBezTo>
                    <a:pt x="14532" y="209599"/>
                    <a:pt x="0" y="174515"/>
                    <a:pt x="0" y="137933"/>
                  </a:cubicBezTo>
                  <a:lnTo>
                    <a:pt x="0" y="137933"/>
                  </a:lnTo>
                  <a:cubicBezTo>
                    <a:pt x="0" y="101351"/>
                    <a:pt x="14532" y="66267"/>
                    <a:pt x="40400" y="40400"/>
                  </a:cubicBezTo>
                  <a:cubicBezTo>
                    <a:pt x="66267" y="14532"/>
                    <a:pt x="101351" y="0"/>
                    <a:pt x="137933" y="0"/>
                  </a:cubicBezTo>
                  <a:close/>
                </a:path>
              </a:pathLst>
            </a:custGeom>
            <a:ln w="38100" cap="rnd">
              <a:solidFill>
                <a:srgbClr val="2145B2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Screen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066856" y="9116400"/>
            <a:ext cx="3800169" cy="909824"/>
            <a:chOff x="0" y="0"/>
            <a:chExt cx="1152241" cy="2758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2241" cy="275866"/>
            </a:xfrm>
            <a:custGeom>
              <a:avLst/>
              <a:gdLst/>
              <a:ahLst/>
              <a:cxnLst/>
              <a:rect r="r" b="b" t="t" l="l"/>
              <a:pathLst>
                <a:path h="275866" w="1152241">
                  <a:moveTo>
                    <a:pt x="103900" y="0"/>
                  </a:moveTo>
                  <a:lnTo>
                    <a:pt x="1048341" y="0"/>
                  </a:lnTo>
                  <a:cubicBezTo>
                    <a:pt x="1105723" y="0"/>
                    <a:pt x="1152241" y="46518"/>
                    <a:pt x="1152241" y="103900"/>
                  </a:cubicBezTo>
                  <a:lnTo>
                    <a:pt x="1152241" y="171966"/>
                  </a:lnTo>
                  <a:cubicBezTo>
                    <a:pt x="1152241" y="229348"/>
                    <a:pt x="1105723" y="275866"/>
                    <a:pt x="1048341" y="275866"/>
                  </a:cubicBezTo>
                  <a:lnTo>
                    <a:pt x="103900" y="275866"/>
                  </a:lnTo>
                  <a:cubicBezTo>
                    <a:pt x="76344" y="275866"/>
                    <a:pt x="49917" y="264919"/>
                    <a:pt x="30432" y="245434"/>
                  </a:cubicBezTo>
                  <a:cubicBezTo>
                    <a:pt x="10947" y="225949"/>
                    <a:pt x="0" y="199522"/>
                    <a:pt x="0" y="171966"/>
                  </a:cubicBezTo>
                  <a:lnTo>
                    <a:pt x="0" y="103900"/>
                  </a:lnTo>
                  <a:cubicBezTo>
                    <a:pt x="0" y="46518"/>
                    <a:pt x="46518" y="0"/>
                    <a:pt x="103900" y="0"/>
                  </a:cubicBezTo>
                  <a:close/>
                </a:path>
              </a:pathLst>
            </a:custGeom>
            <a:ln w="38100" cap="rnd">
              <a:solidFill>
                <a:srgbClr val="E0CA27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152241" cy="333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43"/>
                </a:lnSpc>
              </a:pPr>
              <a:r>
                <a:rPr lang="en-US" sz="210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Prevention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7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36497" y="2293951"/>
            <a:ext cx="10685722" cy="7079291"/>
          </a:xfrm>
          <a:custGeom>
            <a:avLst/>
            <a:gdLst/>
            <a:ahLst/>
            <a:cxnLst/>
            <a:rect r="r" b="b" t="t" l="l"/>
            <a:pathLst>
              <a:path h="7079291" w="10685722">
                <a:moveTo>
                  <a:pt x="0" y="0"/>
                </a:moveTo>
                <a:lnTo>
                  <a:pt x="10685722" y="0"/>
                </a:lnTo>
                <a:lnTo>
                  <a:pt x="10685722" y="7079291"/>
                </a:lnTo>
                <a:lnTo>
                  <a:pt x="0" y="7079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442" y="540207"/>
            <a:ext cx="9284579" cy="152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91"/>
              </a:lnSpc>
            </a:pPr>
            <a:r>
              <a:rPr lang="en-US" b="true" sz="11623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4442" y="9431856"/>
            <a:ext cx="4206435" cy="39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1"/>
              </a:lnSpc>
            </a:pPr>
            <a:r>
              <a:rPr lang="en-US" sz="14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Discussion</a:t>
            </a:r>
          </a:p>
          <a:p>
            <a:pPr algn="l" marL="0" indent="0" lvl="0">
              <a:lnSpc>
                <a:spcPts val="1541"/>
              </a:lnSpc>
            </a:pPr>
            <a:r>
              <a:rPr lang="en-US" sz="14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Tehreek-e-Muhandis | STA281 Spring 2026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DAHL_5-qsDs</dc:identifier>
  <dcterms:modified xsi:type="dcterms:W3CDTF">2011-08-01T06:04:30Z</dcterms:modified>
  <cp:revision>1</cp:revision>
  <dc:title>Statistical CKD Risk Factor Analysis</dc:title>
</cp:coreProperties>
</file>